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Готовность, %</c:v>
                </c:pt>
              </c:strCache>
            </c:strRef>
          </c:tx>
          <c:spPr>
            <a:solidFill>
              <a:srgbClr val="5E9B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9B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Аэровокзальный
комплекс</c:v>
                  </c:pt>
                  <c:pt idx="1">
                    <c:v>Сооружения
лётного поля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C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тыс. пассажиров в год</c:v>
                </c:pt>
              </c:strCache>
            </c:strRef>
          </c:tx>
          <c:spPr>
            <a:solidFill>
              <a:srgbClr val="5E9B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9B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9B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C1E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Факт 2018</c:v>
                  </c:pt>
                  <c:pt idx="1">
                    <c:v>Факт 2021</c:v>
                  </c:pt>
                  <c:pt idx="2">
                    <c:v>Прогноз АЛРОСА</c:v>
                  </c:pt>
                  <c:pt idx="3">
                    <c:v>Ёмкость нового
терминала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342</c:v>
                </c:pt>
                <c:pt idx="1">
                  <c:v>269</c:v>
                </c:pt>
                <c:pt idx="2">
                  <c:v>400</c:v>
                </c:pt>
                <c:pt idx="3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Загрузка терминала, %</c:v>
                </c:pt>
              </c:strCache>
            </c:strRef>
          </c:tx>
          <c:spPr>
            <a:solidFill>
              <a:srgbClr val="B14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14A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9B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7D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270 тыс.
(уровень 2021)</c:v>
                  </c:pt>
                  <c:pt idx="1">
                    <c:v>360 тыс.
(максимум)</c:v>
                  </c:pt>
                  <c:pt idx="2">
                    <c:v>400 тыс.
(прогноз)</c:v>
                  </c:pt>
                  <c:pt idx="3">
                    <c:v>500 тыс.
(с новыми
драйверами)</c:v>
                  </c:pt>
                  <c:pt idx="4">
                    <c:v>1 000 тыс.
(порог
окупаемости)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36</c:v>
                </c:pt>
                <c:pt idx="2">
                  <c:v>40</c:v>
                </c:pt>
                <c:pt idx="3">
                  <c:v>50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C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Изменение, раз</c:v>
                </c:pt>
              </c:strCache>
            </c:strRef>
          </c:tx>
          <c:spPr>
            <a:solidFill>
              <a:srgbClr val="B14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14A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14A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0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6B7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Отопление и
электроэнергия</c:v>
                  </c:pt>
                  <c:pt idx="1">
                    <c:v>Содержание
инж. систем</c:v>
                  </c:pt>
                  <c:pt idx="2">
                    <c:v>Зимнее
содержание</c:v>
                  </c:pt>
                  <c:pt idx="3">
                    <c:v>Персонал</c:v>
                  </c:pt>
                  <c:pt idx="4">
                    <c:v>Доходы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3</c:v>
                </c:pt>
                <c:pt idx="2">
                  <c:v>2</c:v>
                </c:pt>
                <c:pt idx="3">
                  <c:v>1.25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0"/>
        <c:axPos val="l"/>
        <c:majorGridlines>
          <c:spPr>
            <a:ln w="6350" cap="flat">
              <a:solidFill>
                <a:srgbClr val="DC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Авиационные доходы</c:v>
                </c:pt>
              </c:strCache>
            </c:strRef>
          </c:tx>
          <c:spPr>
            <a:solidFill>
              <a:srgbClr val="0E23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Типично сейчас</c:v>
                  </c:pt>
                  <c:pt idx="1">
                    <c:v>Цель через 5 лет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Неавиационные доходы</c:v>
                </c:pt>
              </c:strCache>
            </c:strRef>
          </c:tx>
          <c:spPr>
            <a:solidFill>
              <a:srgbClr val="5E9B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Типично сейчас</c:v>
                  </c:pt>
                  <c:pt idx="1">
                    <c:v>Цель через 5 лет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Топливо и прочие услуги</c:v>
                </c:pt>
              </c:strCache>
            </c:strRef>
          </c:tx>
          <c:spPr>
            <a:solidFill>
              <a:srgbClr val="D990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Типично сейчас</c:v>
                  </c:pt>
                  <c:pt idx="1">
                    <c:v>Цель через 5 лет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</c:v>
                </c:pt>
                <c:pt idx="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Записка подготовлена по открытым источникам. Все оценки, не подтверждённые публикациями, помечены как оценочные и требуют проверки на внутренних данных предприятия.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три тезиса задают повестку всей записки: организационная готовность, проблема избыточной мощности и яма переходного периода.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для руководства: геотехнический мониторинг нужно ставить на баланс как постоянную функцию, а не как этап стройки.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блоков соответствует критичности: первые три определяют, состоится ли переход в срок.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Величины изменения — оценочные, приведены для иллюстрации структуры проблемы. Точные значения даёт модель OPEX на внутренних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822960"/>
            <a:ext cx="3291840" cy="3291840"/>
          </a:xfrm>
          <a:prstGeom prst="diamond">
            <a:avLst/>
          </a:prstGeom>
          <a:solidFill>
            <a:srgbClr val="1C4370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2194560"/>
            <a:ext cx="2011680" cy="2011680"/>
          </a:xfrm>
          <a:prstGeom prst="diamond">
            <a:avLst/>
          </a:prstGeom>
          <a:solidFill>
            <a:srgbClr val="5E9BC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937760"/>
            <a:ext cx="2560320" cy="2560320"/>
          </a:xfrm>
          <a:prstGeom prst="diamond">
            <a:avLst/>
          </a:prstGeom>
          <a:solidFill>
            <a:srgbClr val="1C4370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ЗАПИСКА ДЛЯ РУКОВОДСТВА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Новый аэропортовый комплекс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«Мирный»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новую площадку: мощности, риски, экономика и точки роста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90 %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терминала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лётного поля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кв. 2027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рейсы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Саха (Якутия) · 15 сентября 2026 г. · Подготовлено по общедоступным источникам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вывода, определяющие всё остальное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11096"/>
            <a:ext cx="530352" cy="530352"/>
          </a:xfrm>
          <a:prstGeom prst="ellipse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ввод нового аэродрома, а не переезд в здание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122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точка на карте, новые координаты порогов ВПП, новые схемы захода, новый пункт в AIP. Критический путь — лётное поле и разрешительные процедуры, а не отделка терминала.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3392424"/>
            <a:ext cx="530352" cy="530352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172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Мощность превышает спрос примерно втрое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59359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пасс./час — это около 1 млн пасс./год. Фактический поток Мирного: 270–360 тыс. Загрузка нового терминала составит 30–40 %.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873752"/>
            <a:ext cx="530352" cy="530352"/>
          </a:xfrm>
          <a:prstGeom prst="ellipse">
            <a:avLst/>
          </a:prstGeom>
          <a:solidFill>
            <a:srgbClr val="B14A38"/>
          </a:solidFill>
          <a:ln w="12700">
            <a:solidFill>
              <a:srgbClr val="B14A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873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6542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первый год экономика ухудшится, а не улучшится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74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на отопление, содержание, уборку, амортизацию вырастают в разы в день ввода. Пассажиропоток в этот день не меняется. Это надо заложить в бюджет заранее.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построено: параметры комплекса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2860 × 44 м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ВПП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стоянки ВС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пасс./час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 тыс. т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ёмкость ТЗК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комплекса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39312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Аэровокзал, привокзальная площадь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Грузовой терминал, грузовой двор, КПП с автовесами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Топливозаправочный комплекс, ангарный комплекс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Аварийно-спасательная станция, служебно-производственный комплекс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подъездная автодорога и инженерные сети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строит и за чей счёт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Лётное поле (ВПП, РД, перрон)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бюджет,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ФКУ «Ространсмодернизация»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Наземная часть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ПАО «АЛРОСА»,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генподрядчик Ant Yapi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901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РТОП и связи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4901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Госкорпорация по ОрВД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объём вложений — порядка 21 млрд руб. Программа: национальный проект «Эффективная транспортная система».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Хронология: три переноса, смещение более трёх лет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66544" cy="1828800"/>
          </a:xfrm>
          <a:prstGeom prst="roundRect">
            <a:avLst>
              <a:gd name="adj" fmla="val 400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0116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E9B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505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принято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16352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+ 10,4 млрд руб.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9776" y="1828800"/>
            <a:ext cx="2066544" cy="1828800"/>
          </a:xfrm>
          <a:prstGeom prst="roundRect">
            <a:avLst>
              <a:gd name="adj" fmla="val 400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89504" y="20116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E9B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24505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ввода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816352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1828800"/>
            <a:ext cx="2066544" cy="1828800"/>
          </a:xfrm>
          <a:prstGeom prst="roundRect">
            <a:avLst>
              <a:gd name="adj" fmla="val 400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20640" y="20116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E9B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505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перенос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16352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2048" y="1828800"/>
            <a:ext cx="2066544" cy="1828800"/>
          </a:xfrm>
          <a:prstGeom prst="roundRect">
            <a:avLst>
              <a:gd name="adj" fmla="val 400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51776" y="20116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E9B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4505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перенос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2816352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73184" y="1828800"/>
            <a:ext cx="2066544" cy="1828800"/>
          </a:xfrm>
          <a:prstGeom prst="roundRect">
            <a:avLst>
              <a:gd name="adj" fmla="val 400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582912" y="20116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24505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Актуальный план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2816352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рейсы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квартал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434840"/>
            <a:ext cx="566928" cy="566928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41879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 причина задержек — изменение геокриологических условий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5902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по ВПП приостанавливались; подрядчик совместно с Институтом мерзлотоведения прорабатывал решения по термостабилизации грунтов. Это не разовая накладка: системы термостабилизации — эксплуатируемые инженерные системы с собственным регламентом, отказами и расходами на весь срок службы объекта.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СЕНТЯБРЬ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Терминал почти готов. Аэропорт — нет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00200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40880" y="1810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28600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нет ВПП, РД и перрона — готовность терминала значения не имеет.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РТОП монтируются на лётном поле. Без них нет лётной проверки.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лётной проверки нет утверждённых схем захода.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схем нет публикации в AIP — а она возможна только в фиксированные даты цикла AIRAC.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диктует условия стройке, а не наоборот.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Рекомендация: вынести разрешительные процедуры в отдельный сетевой график с обратным отсчётом от даты первого регулярного рейса и резервом 3–4 месяца между строительной готовностью и началом полётов.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есть и как будет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4813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Действующий аэропорт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комплекс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493776"/>
          </a:xfrm>
          <a:prstGeom prst="rect">
            <a:avLst/>
          </a:prstGeom>
          <a:solidFill>
            <a:srgbClr val="ED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Взлётно-посадочная полоса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874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2800 × 45 м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2860 × 44 м, новое покрытие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04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Места стоянки воздушных судов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404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404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11247120" cy="493776"/>
          </a:xfrm>
          <a:prstGeom prst="rect">
            <a:avLst/>
          </a:prstGeom>
          <a:solidFill>
            <a:srgbClr val="ED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35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Аэровокзал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9352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 пасс./час (оценка)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352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пасс./час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6557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Годовая ёмкость терминала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46557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350–450 тыс. пасс.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4655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1,0–1,3 млн пасс.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11247120" cy="493776"/>
          </a:xfrm>
          <a:prstGeom prst="rect">
            <a:avLst/>
          </a:prstGeom>
          <a:solidFill>
            <a:srgbClr val="ED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959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Грузовой терминал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9959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отдельного современного нет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995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 + двор + КПП с весами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26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Ангар для воздушных судов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ограниченные возможности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ангарный комплекс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010912"/>
            <a:ext cx="11247120" cy="493776"/>
          </a:xfrm>
          <a:prstGeom prst="rect">
            <a:avLst/>
          </a:prstGeom>
          <a:solidFill>
            <a:srgbClr val="ED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0566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РТОП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50566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056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годовой ёмкости рассчитана от часовой мощности с учётом суточной и сезонной неравномерности; паспортные значения подлежат уточнению.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ПРОПУСКНАЯ СПОСОБНОСТЬ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разрыв проекта: мощность против спроса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3657600"/>
          </a:xfrm>
          <a:prstGeom prst="roundRect">
            <a:avLst>
              <a:gd name="adj" fmla="val 200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Втрое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3957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терминал превышает исторический максимум пассажиропотока Мирного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2004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максимум — около 360 тыс. пасс./год.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Структурного роста нет: 2021 год на 21 % ниже 2018-го.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Мирного за 15 лет сократилось с 37,2 до 34,3 тыс. чел.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350–400 тыс. — это не рост, а возврат к максимуму.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Отраслевые эксперты ещё в 2019 г. называли мощность 300 пасс./час избыточной, а порог окупаемости терминала — около 1 млн пассажиров в год.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ПОКАЗАТЕЛЬ ПРОЕКТА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Загрузка терминала по сценариям спроса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51389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36 % и 100 % — и есть предмет стратегии предприятия на ближайшие десять лет. Закрыть его только пассажирами невозможно. Закрыть комбинацией «груз + топливо + сервис + неавиационная выручка» — можно.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ПРЕДСТОИТ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блоков трудностей перехода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411480" cy="411480"/>
          </a:xfrm>
          <a:prstGeom prst="ellipse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1848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Сертификация и разрешительная документация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76272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аэродром в реестре, сертификат оператора, схемы, AIP, транспортная безопасность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463040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645920"/>
            <a:ext cx="411480" cy="411480"/>
          </a:xfrm>
          <a:prstGeom prst="ellipse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0056" y="161848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Аэронавигация и лётная эксплуатация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176272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координаты и схемы, препятствия и отвалы, переучивание экипажей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463040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645920"/>
            <a:ext cx="411480" cy="411480"/>
          </a:xfrm>
          <a:prstGeom prst="ellipse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1848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«дня Х»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176272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перехода, единичное оборудование, план отката, репетиции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5409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236976"/>
            <a:ext cx="411480" cy="411480"/>
          </a:xfrm>
          <a:prstGeom prst="ellipse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20954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767328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человек, доставка на смены, новые компетенции, удержание ключевых специалистов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6824" y="305409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236976"/>
            <a:ext cx="411480" cy="411480"/>
          </a:xfrm>
          <a:prstGeom prst="ellipse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07992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0056" y="320954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 и связь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3767328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DCS, табло, багаж, СКУД, два независимых канала, ручные процедуры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05409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236976"/>
            <a:ext cx="411480" cy="411480"/>
          </a:xfrm>
          <a:prstGeom prst="ellipse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6176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20954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Спецтехника, СНО и топливо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3767328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площадь покрытий — больше техники; зимнее содержание определяет регулярность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45152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828032"/>
            <a:ext cx="411480" cy="411480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61872" y="4800600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Вечная мерзлота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5358384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Термостабилизация как эксплуатируемая система, геотехнический мониторинг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06824" y="4645152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07992" y="4828032"/>
            <a:ext cx="411480" cy="411480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07992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020056" y="4800600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эксплуатации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507992" y="5358384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растут мгновенно, доходы — нет; тарифы, амортизация, налог на имущество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65008" y="4645152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66176" y="4828032"/>
            <a:ext cx="411480" cy="411480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66176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778240" y="4800600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площадка и город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266176" y="5358384"/>
            <a:ext cx="3099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Судьба актива, транспортная схема, информирование пассажиров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переезжать: три сценария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3200400"/>
          </a:xfrm>
          <a:prstGeom prst="roundRect">
            <a:avLst>
              <a:gd name="adj" fmla="val 228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Одномоментный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рейс на старом — первый на новом.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Просто и дёшево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Нет отката: любой сбой останавливает авиасообщение города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2953512" cy="347472"/>
          </a:xfrm>
          <a:prstGeom prst="roundRect">
            <a:avLst>
              <a:gd name="adj" fmla="val 15789"/>
            </a:avLst>
          </a:prstGeom>
          <a:solidFill>
            <a:srgbClr val="B1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6052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06824" y="1463040"/>
            <a:ext cx="3502152" cy="3200400"/>
          </a:xfrm>
          <a:prstGeom prst="roundRect">
            <a:avLst>
              <a:gd name="adj" fmla="val 228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1691640"/>
            <a:ext cx="548640" cy="548640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811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175564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Параллельная работа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23774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площадки работают одновременно.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01752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Максимальная надёжность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Двойной штат и затраты; по многим службам физически невозможно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81144" y="4160520"/>
            <a:ext cx="2953512" cy="347472"/>
          </a:xfrm>
          <a:prstGeom prst="roundRect">
            <a:avLst>
              <a:gd name="adj" fmla="val 15789"/>
            </a:avLst>
          </a:prstGeom>
          <a:solidFill>
            <a:srgbClr val="D9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81144" y="416052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65008" y="1463040"/>
            <a:ext cx="3502152" cy="3200400"/>
          </a:xfrm>
          <a:prstGeom prst="roundRect">
            <a:avLst>
              <a:gd name="adj" fmla="val 2286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39328" y="1691640"/>
            <a:ext cx="548640" cy="548640"/>
          </a:xfrm>
          <a:prstGeom prst="ellipse">
            <a:avLst/>
          </a:prstGeom>
          <a:solidFill>
            <a:srgbClr val="3E7D5A"/>
          </a:solidFill>
          <a:ln w="12700">
            <a:solidFill>
              <a:srgbClr val="3E7D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932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025128" y="175564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Переход + горячий резерв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3774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за одну ночь; старый аэродром 30–90 суток готов принять рейс.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301752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Баланс надёжности и стоимости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39328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Требует минимального содержания старой площадки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39328" y="4160520"/>
            <a:ext cx="2953512" cy="347472"/>
          </a:xfrm>
          <a:prstGeom prst="roundRect">
            <a:avLst>
              <a:gd name="adj" fmla="val 15789"/>
            </a:avLst>
          </a:prstGeom>
          <a:solidFill>
            <a:srgbClr val="3E7D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39328" y="416052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Обязательные элементы сценария C: окно в одну ночь вне зимы и вне пика · «список единичных позиций» оборудования · две репетиции, включая натурную · письменные критерии отката · штаб перехода на 72 часа.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РИСКОВ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Риски, требующие личного контроля первого руководителя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5506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B1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5506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6002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затрат без роста доходов в первые два года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00200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OPEX до ввода, защищённый бюджет переходного периода, модульная эксплуатация терминала, ранний пересмотр тарифов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8775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B1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8775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53288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лётного поля не позволит уложиться в срок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32888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критический путь, еженедельный контроль, сезонное планирование работ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52044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B1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5204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346557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Разрешительные процедуры не завершены к строительной готовности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465576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график сертификации с привязкой к AIRAC, персональная ответственность, ранняя подготовка документов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5312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B14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45312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39826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инвестпрограммы АЛРОСА и кризис алмазного рынка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398264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Диверсификация спроса за пределы АЛРОСА, рост доли груза, долгосрочные соглашения об объёмах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385816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D9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38581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572768" y="533095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и отток квалифицированного персонала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330952"/>
            <a:ext cx="5010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удержания 20–40 ключевых специалистов, обучение за 12 месяцев до ввода, транспорт и соцпакет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= вероятность × влияние по шкале 1–5. Полный реестр из 20 рисков — в разделе 7 записки.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Узкие места: что ограничивает систему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0E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ввода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3408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2860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лётного поля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7980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743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РТОП и лётная проверка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2552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2004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AIRAC — публикация схем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7124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6576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Транспортная безопасность: категорирование и план ОТБ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1696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41148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Единичная спецтехника и досмотровое оборудование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481328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71907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C43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Постоянная эксплуатация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6248" y="23408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6248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22860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Спрос, а не мощность — впервые в истории аэропорта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56248" y="27980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5624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2743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Зимнее содержание увеличенной площади покрытий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56248" y="32552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5624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32004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Ёмкость ТЗК и логистика завоза топлива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56248" y="37124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56248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76872" y="36576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Маршрутная сеть и интерес перевозчиков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56248" y="41696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56248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76872" y="41148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международного пункта пропуска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56248" y="46268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56248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76872" y="45720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Кадровый рынок города на 34 тыс. жителей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556248" y="5084064"/>
            <a:ext cx="292608" cy="292608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56248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76872" y="5029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 автодороги и реки за груз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расшивки: до ввода — блок «период ввода»; первый год — зимнее содержание, топливо, кадры; стратегический горизонт — спрос, сеть, пункт пропуска.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ПЕРЕХОДА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год: затраты растут, доходы — нет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72768"/>
          <a:ext cx="6858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572768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сказать собственнику заранее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5603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новые статьи: амортизация наземной части, налог на имущество, геотехнический мониторинг.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Пассажиропоток в день ввода не меняется.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Ухудшение результата в первый год — предсказуемо и нормально. Если это не заложено в бюджет, через год возникнет конфликт на ровном месте.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2578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5394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ответа: модульная эксплуатация терминала с отключением неиспользуемых зон · пересмотр тарифов, подготовленный за 9–12 месяцев · запуск неавиационных доходов с первого дня, а не «когда устаканится».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Целесообразность: честная оценка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971800"/>
          </a:xfrm>
          <a:prstGeom prst="roundRect">
            <a:avLst>
              <a:gd name="adj" fmla="val 2462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Аргументы «за»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действующих объектов исчерпан; реконструкция на месте признана нецелесообразной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полётов: новые схемы, современные РТОП, новая аварийно-спасательная станция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половины капзатрат — федеральные, лётное поле не обременяет баланс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жизнеобеспечения территории — это не коммерческий выбор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появляется полноценная грузовая инфраструктура — главный коммерческий актив проекта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2971800"/>
          </a:xfrm>
          <a:prstGeom prst="roundRect">
            <a:avLst>
              <a:gd name="adj" fmla="val 2462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6248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1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Объективные слабости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Трёх-четырёхкратный избыток пассажирской мощности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Стагнирующий спрос и сокращающееся население города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одного заказчика: проект «Мир-Глубокий» замедляется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Постоянные затраты растут немедленно, доходы — с задержкой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переноса сроков: удорожание и упущенная выгода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публичной стратегии загрузки построенной мощности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73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0235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оправдан как инфраструктурный и социальный, но не самоокупаем как коммерческий в существующей модели спроса. Задача менеджмента — перевести его из категории «дорогая необходимость» в категорию «многофункциональная платформа», зарабатывающая не только на пассажире.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нарастить пассажиропоток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Эффект, пасс./год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183794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Стимулирующие тарифы для новых рейсов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8379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50–70 % в первый год. При загрузке 35 % предельные затраты на дополнительный рейс близки к нулю — скидка не потеря, а плата за заполнение мощности.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83794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+20…50 тыс.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183794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26243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перечня субсидируемых маршрутов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62432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Мирный уже включён Росавиацией в перечень на 2026 год. Ежегодно подавать заявки совместно с Республикой и перевозчиками.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6243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+15…40 тыс.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маршрут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262432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558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41071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Долгосрочное соглашение с АЛРОСА об объёмах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41071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на 3–5 лет, под которую авиакомпании готовы ставить борта. Привязка расписания к графику вахтовых пересменок.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41071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стабилизация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0" y="341071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41970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пересадочный узел Западной Якутии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19709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Стыковочные «волны» и сквозная регистрация багажа: из посёлка в Москву через Мирный за одну пересадку, минуя Якутск.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419709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+30…70 тыс.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0" y="419709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286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49834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межрегиональные направления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498348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Санкт-Петербург, Красноярск, Владивосток, Тюмень, сезонно — юг. Медицинская и образовательная мобильность, промышленный туризм.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498348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+40…100 тыс.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0" y="498348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Суммарный реалистичный потенциал: рост с ≈ 350 до 500–600 тыс. пасс./год за 5–7 лет, то есть 50–60 % загрузки терминала.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Груз — единственный сегмент с кратным потенциалом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Консолидация грузопотока АЛРОСА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942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Грузовой терминал Мирного — единая точка входа для всех авиагрузов алмазной провинции. Ответственное хранение аварийного запаса запчастей для рудников.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992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+30…60 % к базе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2856" y="166420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Хаб северного завоза Западной Якутии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24942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Накопление груза круглый год, отправка в периоды закрытия наземных путей. Премиальный тариф за срочность в межсезонье. Статус объекта опорной логистической сети.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9992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 1,5–2 раза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46304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66420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Регулярный грузовой рейс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4942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Предсказуемость важнее цены для промышленного грузоотправителя. Плюс негабарит, тяжеловесы и спецгрузы с допусками — закрытые для конкурентов сегменты.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992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маржа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381304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Экспресс-доставка и e-commerce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9826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Распределительный пункт маркетплейса на территории грузового терминала. Поток, не зависящий от промышленного цикла, — лучшая диверсификация.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рост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06824" y="36118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62856" y="381304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Холодовая цепь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39826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Камеры разных температурных режимов, ветеринарный и фитосанитарный контроль. В обратную сторону — рыба, дикоросы, оленина.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сегмент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6118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21040" y="381304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Технические посадки и дозаправка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398264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Мирный — запасной аэродром на кроссполярном маршруте Polar 3. Одна посадка тяжёлого грузового ВС с заправкой по доходности эквивалентна сотням пассажиров.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1480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Суммарный потенциал: рост грузопотока в 2–3 раза за 5–7 лет. Для груза это достижимо, в отличие от пассажиров.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предприятию дополнительно зарабатывать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1 — запуск в первые 3–18 месяцев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38528"/>
            <a:ext cx="457200" cy="45720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01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Топливообеспечение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бизнес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7860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Заправка сторонних перевозчиков и технических посадок, ответственное хранение топлива, аттестованная лаборатория ГСМ, заправка вертолётной техники санавиации, МЧС и геологоразведки.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938528"/>
            <a:ext cx="457200" cy="45720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9784" y="1901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Ангарный комплекс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57860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и отогрев воздушных судов при −50 °C, предполётная подготовка, сертификат организации по техническому обслуживанию: замена вывоза техники в Новосибирск и Иркутск.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38528"/>
            <a:ext cx="457200" cy="45720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1901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Коммерческие площади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терминала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57860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Кафе, торговля, фирменная продукция АЛРОСА, аптека, банки, постаматы. Арендаторов заводить до открытия: пустой терминал в первый год отпугнёт их надолго.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41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2–4 — горизонт 1–5 лет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16552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сервисы: бизнес-зал, зал для вахты, упаковка багажа, парковка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416552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1111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Гостиница при аэропорте — 7 км от города, задержки, погода Якутии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837176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837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Деловая авиация (FBO): один бизнес-джет доходнее сотни пассажиров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837176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837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11112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Наземное обслуживание сторонних и аренда спецтехники в непик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центр: DGR, транспортная безопасность, АСР, водители перрона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5257800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611112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площадка: вертолётный центр, склады, АТБ, полигон испытаний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678424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678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96112" y="5632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Реклама, цифровые сервисы, продажа энергоресурсов резидентам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5678424"/>
            <a:ext cx="237744" cy="237744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63640" y="5678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611112" y="5632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пункт пропуска — прорабатывать начинать уже сейчас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МОДЕЛЬ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Выручку можно удвоить, не удваивая пассажиропоток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6384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Иллюстративная модель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128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795 млн руб./год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модернизации доходов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1 654 млн руб./год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114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вклад дают груз, топливо и неавиационная выручка, а не рост числа пассажиров. Допущения модели указаны явно и подлежат замене на фактические данные предприятия.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выручки «сегодня» — типичные значения для регионального аэропорта до модернизации; цифры модели иллюстративные.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ДЕЙСТВИЙ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15184" cy="4251960"/>
          </a:xfrm>
          <a:prstGeom prst="roundRect">
            <a:avLst>
              <a:gd name="adj" fmla="val 2797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0E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031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ввода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87168"/>
            <a:ext cx="22128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график разрешительных процедур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перехода и план отката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единичных позиций оборудования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персонала и спецтехники, закупка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OPEX и бюджет переходного периода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Привлечение арендаторов до открытия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 судьбе старой площадки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704" y="1463040"/>
            <a:ext cx="2615184" cy="4251960"/>
          </a:xfrm>
          <a:prstGeom prst="roundRect">
            <a:avLst>
              <a:gd name="adj" fmla="val 2797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C43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031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Переход и 90 дней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487168"/>
            <a:ext cx="22128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 перехода, 72 часа круглосуточно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резерв старой площадки 30–90 суток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разбор инцидентов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Коммерческие точки открываются вместе с терминалом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Платная парковка с первого дня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фактического OPEX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463040"/>
            <a:ext cx="2615184" cy="4251960"/>
          </a:xfrm>
          <a:prstGeom prst="roundRect">
            <a:avLst>
              <a:gd name="adj" fmla="val 2797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5E9B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2–3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1031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Годы 1–3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487168"/>
            <a:ext cx="22128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зима: контроль покрытий и систем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Стимулирующие тарифы, соглашение с АЛРОСА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Консолидация грузов, регулярный грузовой рейс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Стыковочные волны и сквозная регистрация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на техобслуживание ВС, FBO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центр, перепрофилирование площадки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42832" y="1463040"/>
            <a:ext cx="2615184" cy="4251960"/>
          </a:xfrm>
          <a:prstGeom prst="roundRect">
            <a:avLst>
              <a:gd name="adj" fmla="val 2797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34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9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1031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Годы 4–7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487168"/>
            <a:ext cx="22128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пункт пропуска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Технические посадки и дозаправка транзита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Гостиница и привокзальная территория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объекта опорной сети северного завоза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500–600 тыс. пасс./год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Удвоение выручки предприятия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0"/>
            <a:ext cx="2926080" cy="2926080"/>
          </a:xfrm>
          <a:prstGeom prst="diamond">
            <a:avLst/>
          </a:prstGeom>
          <a:solidFill>
            <a:srgbClr val="1C437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ЗАПОМНИТЬ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тезисов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38912" cy="438912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4650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Критический путь — лётное поле и разрешительные процедуры, а не отделка терминала.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438912" cy="438912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0487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Мощность превышает спрос втрое; загрузка терминала составит 30–40 %.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438912" cy="438912"/>
          </a:xfrm>
          <a:prstGeom prst="ellipse">
            <a:avLst/>
          </a:prstGeom>
          <a:solidFill>
            <a:srgbClr val="5E9BC9"/>
          </a:solidFill>
          <a:ln w="12700">
            <a:solidFill>
              <a:srgbClr val="5E9B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6324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Переходить по сценарию «одна ночь + горячий резерв старого аэродрома» с письменным планом отката.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438912" cy="438912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2160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первый год экономика ухудшится. Это надо заложить в бюджет, а не объяснять постфактум.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7997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Мерзлота — постоянная статья эксплуатации: геотехнический мониторинг с первого года.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438912" cy="438912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74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3834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Груз, топливо и неавиационная выручка удваивают доходы без удвоения пассажиропотока.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собрать 14 блоков внутренних данных (раздел 15 записки) и заменить ими все оценочные значения — это превращает записку в рабочий расчёт.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Новый аэропортовый комплекс «Мирный»</dc:title>
  <dc:subject>PptxGenJS Presentation</dc:subject>
  <dc:creator>Аналитическая записка</dc:creator>
  <cp:lastModifiedBy>Аналитическая записка</cp:lastModifiedBy>
  <cp:revision>1</cp:revision>
  <dcterms:created xsi:type="dcterms:W3CDTF">2026-09-15T00:37:24Z</dcterms:created>
  <dcterms:modified xsi:type="dcterms:W3CDTF">2026-09-15T00:37:24Z</dcterms:modified>
</cp:coreProperties>
</file>